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5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37160" cy="6858000"/>
          </a:xfrm>
          <a:prstGeom prst="rect">
            <a:avLst/>
          </a:prstGeom>
          <a:solidFill>
            <a:srgbClr val="6B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7FD9"/>
                </a:solidFill>
              </a:rPr>
              <a:t>RESEARCHPATH · 경진대회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이공계 대학원 컨택,</a:t>
            </a:r>
          </a:p>
          <a:p>
            <a:pPr algn="l"/>
            <a:r>
              <a:rPr sz="4400" b="1">
                <a:solidFill>
                  <a:srgbClr val="4BBFA5"/>
                </a:solidFill>
              </a:rPr>
              <a:t>'한 장의 결정카드'로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4B5E8"/>
                </a:solidFill>
              </a:rPr>
              <a:t>AI·ML·CS·빅데이터 학부생이 흩어진 정보를 한 화면에서 비교하고
5축 결정카드 + 컨택 메일 자동 생성 + AI 상담 + 논문 번역까지 통합한 의사결정 웹앱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5CBF"/>
                </a:solidFill>
              </a:rPr>
              <a:t>🧭 정보 비대칭 해소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4663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BFA5"/>
                </a:solidFill>
              </a:rPr>
              <a:t>📊 5축 결정카드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663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845F"/>
                </a:solidFill>
              </a:rPr>
              <a:t>✉️ 메일 자동화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663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A8D8"/>
                </a:solidFill>
              </a:rPr>
              <a:t>🤖 AI 상담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663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B429"/>
                </a:solidFill>
              </a:rPr>
              <a:t>📄 논문 번역 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개발자: Hyewon Lee (이혜원) · 용인대 AI·빅데이터학과 · nina829@naver.com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노코드 단일 HTML · GitHub Pages 배포 · 서버리스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7FD9"/>
                </a:solidFill>
              </a:rPr>
              <a:t>PROBLEM · 왜 만들었나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랩 하나 알아보는 데 4곳을 따로 뒤진다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2560320" cy="2560320"/>
          </a:xfrm>
          <a:prstGeom prst="rect">
            <a:avLst/>
          </a:prstGeom>
          <a:solidFill>
            <a:srgbClr val="2A183E"/>
          </a:solidFill>
          <a:ln>
            <a:solidFill>
              <a:srgbClr val="F4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0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845F"/>
                </a:solidFill>
              </a:rPr>
              <a:t>정보가 흩어져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홈페이지 → 구글스칼라 → 에브리타임 → 카톡 선배…
각각 따로 찾아야 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920240"/>
            <a:ext cx="2560320" cy="2560320"/>
          </a:xfrm>
          <a:prstGeom prst="rect">
            <a:avLst/>
          </a:prstGeom>
          <a:solidFill>
            <a:srgbClr val="2A183E"/>
          </a:solidFill>
          <a:ln>
            <a:solidFill>
              <a:srgbClr val="F4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011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560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845F"/>
                </a:solidFill>
              </a:rPr>
              <a:t>논문이 영어·전문용어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"이 랩이 뭘 하는지"
3분 안에 파악 안 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920240"/>
            <a:ext cx="2560320" cy="2560320"/>
          </a:xfrm>
          <a:prstGeom prst="rect">
            <a:avLst/>
          </a:prstGeom>
          <a:solidFill>
            <a:srgbClr val="2A183E"/>
          </a:solidFill>
          <a:ln>
            <a:solidFill>
              <a:srgbClr val="F4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011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560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845F"/>
                </a:solidFill>
              </a:rPr>
              <a:t>진로 연결이 안 보임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이 연구가 졸업 후 어떤 직무로
이어지는지 불명확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920240"/>
            <a:ext cx="2560320" cy="2560320"/>
          </a:xfrm>
          <a:prstGeom prst="rect">
            <a:avLst/>
          </a:prstGeom>
          <a:solidFill>
            <a:srgbClr val="2A183E"/>
          </a:solidFill>
          <a:ln>
            <a:solidFill>
              <a:srgbClr val="F4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011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✉️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60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845F"/>
                </a:solidFill>
              </a:rPr>
              <a:t>컨택 메일이 막막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"뭐라고 써야 하지?"
에서 시작을 못 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C8B8"/>
                </a:solidFill>
              </a:rPr>
              <a:t>→ 핵심: 정보 비대칭. 인맥(카톡 선배)이 있어야만 좋은 정보를 얻는 구조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7FD9"/>
                </a:solidFill>
              </a:rPr>
              <a:t>TARGET · 좁힌 사용자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"모든 대학생"이 아닌 딱 한 그룹을 위해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5486400" cy="3291840"/>
          </a:xfrm>
          <a:prstGeom prst="rect">
            <a:avLst/>
          </a:prstGeom>
          <a:solidFill>
            <a:srgbClr val="1A102E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BBFA5"/>
                </a:solidFill>
              </a:rPr>
              <a:t>🎯 타깃 페르소나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• 이공계(AI·ML·CS·데이터) 3~4학년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• 이번 학기 학부연구생 또는 대학원 진학 고민 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• 진로 선택을 눈앞에 둔 의사결정 시점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5486400" cy="3291840"/>
          </a:xfrm>
          <a:prstGeom prst="rect">
            <a:avLst/>
          </a:prstGeom>
          <a:solidFill>
            <a:srgbClr val="1A102E"/>
          </a:solidFill>
          <a:ln>
            <a:solidFill>
              <a:srgbClr val="F4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845F"/>
                </a:solidFill>
              </a:rPr>
              <a:t>🚫 안티 페르소나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• 이미 연구실을 정한 학생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918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• 취업 직행으로 결정한 학생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9319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• 인문·사회계 전공자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</a:rPr>
              <a:t>스코프를 좁혀 실제 니즈에 집중 — 이번 학기 진학 결정을 앞둔 학생이 핵심 사용자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7FD9"/>
                </a:solidFill>
              </a:rPr>
              <a:t>COMPETITION · 경쟁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"경쟁자가 없다"는 거짓말 — 그래서 차별점이 더 명확하다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521440" cy="640080"/>
          </a:xfrm>
          <a:prstGeom prst="rect">
            <a:avLst/>
          </a:prstGeom>
          <a:solidFill>
            <a:srgbClr val="7C5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대안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9385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장점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385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부족한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938528"/>
            <a:ext cx="40233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ResearchPath 차별점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11521440" cy="640080"/>
          </a:xfrm>
          <a:prstGeom prst="rect">
            <a:avLst/>
          </a:prstGeom>
          <a:solidFill>
            <a:srgbClr val="1A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김박사넷·랩큐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786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후기·평점 풍부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5786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진로 연결·맞춤 추천 약함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578608"/>
            <a:ext cx="40233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BBFA5"/>
                </a:solidFill>
              </a:rPr>
              <a:t>5축 카드 + 진로 축 특화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1521440" cy="640080"/>
          </a:xfrm>
          <a:prstGeom prst="rect">
            <a:avLst/>
          </a:prstGeom>
          <a:solidFill>
            <a:srgbClr val="2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18688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구글스칼라+GPT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186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무료·익숙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186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매번 직접 조합, 통합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218688"/>
            <a:ext cx="40233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BBFA5"/>
                </a:solidFill>
              </a:rPr>
              <a:t>원클릭 통합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11521440" cy="640080"/>
          </a:xfrm>
          <a:prstGeom prst="rect">
            <a:avLst/>
          </a:prstGeom>
          <a:solidFill>
            <a:srgbClr val="1A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58768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카톡 선배·에브리타임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85876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생생한 경험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858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인맥 의존, 체계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858768"/>
            <a:ext cx="40233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BBFA5"/>
                </a:solidFill>
              </a:rPr>
              <a:t>누구나 동등한 정보 접근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11521440" cy="640080"/>
          </a:xfrm>
          <a:prstGeom prst="rect">
            <a:avLst/>
          </a:prstGeom>
          <a:solidFill>
            <a:srgbClr val="2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98848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학교 LMS·홈페이지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4988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공식 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4988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계약대학원 정보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498848"/>
            <a:ext cx="40233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BBFA5"/>
                </a:solidFill>
              </a:rPr>
              <a:t>계약대학원 축 특화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BFA5"/>
                </a:solidFill>
              </a:rPr>
              <a:t>핵심 차별점: '내 진로·수준에 맞춰 5축을 한 카드로 정렬·비교'하는 것은 기존 서비스가 제공하지 않음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7FD9"/>
                </a:solidFill>
              </a:rPr>
              <a:t>SOLUTION · 어떻게 해결하나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고르면, 한 카드로 끝난다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103120"/>
            <a:ext cx="1783080" cy="1280160"/>
          </a:xfrm>
          <a:prstGeom prst="rect">
            <a:avLst/>
          </a:prstGeom>
          <a:solidFill>
            <a:srgbClr val="1E1438"/>
          </a:solidFill>
          <a:ln>
            <a:solidFill>
              <a:srgbClr val="A07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21488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4B5E8"/>
                </a:solidFill>
              </a:rPr>
              <a:t>🏷️ 관심 분야
선택·직접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07FD9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2103120"/>
            <a:ext cx="1783080" cy="1280160"/>
          </a:xfrm>
          <a:prstGeom prst="rect">
            <a:avLst/>
          </a:prstGeom>
          <a:solidFill>
            <a:srgbClr val="1E1438"/>
          </a:solidFill>
          <a:ln>
            <a:solidFill>
              <a:srgbClr val="A07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04872" y="21488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4B5E8"/>
                </a:solidFill>
              </a:rPr>
              <a:t>📊 매칭 점수로
연구실 정렬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07FD9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103120"/>
            <a:ext cx="1783080" cy="1280160"/>
          </a:xfrm>
          <a:prstGeom prst="rect">
            <a:avLst/>
          </a:prstGeom>
          <a:solidFill>
            <a:srgbClr val="1E1438"/>
          </a:solidFill>
          <a:ln>
            <a:solidFill>
              <a:srgbClr val="A07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21488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4B5E8"/>
                </a:solidFill>
              </a:rPr>
              <a:t>🗂️ 5축 결정카드
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07FD9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103120"/>
            <a:ext cx="1783080" cy="1280160"/>
          </a:xfrm>
          <a:prstGeom prst="rect">
            <a:avLst/>
          </a:prstGeom>
          <a:solidFill>
            <a:srgbClr val="1E1438"/>
          </a:solidFill>
          <a:ln>
            <a:solidFill>
              <a:srgbClr val="A07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1488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4B5E8"/>
                </a:solidFill>
              </a:rPr>
              <a:t>✉️ 컨택 메일
자동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07FD9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2103120"/>
            <a:ext cx="1783080" cy="1280160"/>
          </a:xfrm>
          <a:prstGeom prst="rect">
            <a:avLst/>
          </a:prstGeom>
          <a:solidFill>
            <a:srgbClr val="1E1438"/>
          </a:solidFill>
          <a:ln>
            <a:solidFill>
              <a:srgbClr val="A07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1488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4B5E8"/>
                </a:solidFill>
              </a:rPr>
              <a:t>📧 네이버/Gmail
바로 이동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5603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07FD9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78440" y="2103120"/>
            <a:ext cx="1783080" cy="1280160"/>
          </a:xfrm>
          <a:prstGeom prst="rect">
            <a:avLst/>
          </a:prstGeom>
          <a:solidFill>
            <a:srgbClr val="1E1438"/>
          </a:solidFill>
          <a:ln>
            <a:solidFill>
              <a:srgbClr val="A07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51592" y="2148840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4B5E8"/>
                </a:solidFill>
              </a:rPr>
              <a:t>📄 논문 번역기
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2103120" cy="1371600"/>
          </a:xfrm>
          <a:prstGeom prst="rect">
            <a:avLst/>
          </a:prstGeom>
          <a:solidFill>
            <a:srgbClr val="1A2E1A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31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BBFA5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4B5E8"/>
                </a:solidFill>
              </a:rPr>
              <a:t>결정 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3840480"/>
            <a:ext cx="2103120" cy="1371600"/>
          </a:xfrm>
          <a:prstGeom prst="rect">
            <a:avLst/>
          </a:prstGeom>
          <a:solidFill>
            <a:srgbClr val="1A2E1A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3931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BBFA5"/>
                </a:solidFill>
              </a:rPr>
              <a:t>10+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4B5E8"/>
                </a:solidFill>
              </a:rPr>
              <a:t>기본 연구실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3840480"/>
            <a:ext cx="2103120" cy="1371600"/>
          </a:xfrm>
          <a:prstGeom prst="rect">
            <a:avLst/>
          </a:prstGeom>
          <a:solidFill>
            <a:srgbClr val="1A2E1A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3931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BBFA5"/>
                </a:solidFill>
              </a:rPr>
              <a:t>30초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4B5E8"/>
                </a:solidFill>
              </a:rPr>
              <a:t>메일 완성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3840480"/>
            <a:ext cx="2103120" cy="1371600"/>
          </a:xfrm>
          <a:prstGeom prst="rect">
            <a:avLst/>
          </a:prstGeom>
          <a:solidFill>
            <a:srgbClr val="1A2E1A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3931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BBFA5"/>
                </a:solidFill>
              </a:rPr>
              <a:t>0원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4B5E8"/>
                </a:solidFill>
              </a:rPr>
              <a:t>사용 비용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3840480"/>
            <a:ext cx="2103120" cy="1371600"/>
          </a:xfrm>
          <a:prstGeom prst="rect">
            <a:avLst/>
          </a:prstGeom>
          <a:solidFill>
            <a:srgbClr val="1A2E1A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3931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BBFA5"/>
                </a:solidFill>
              </a:rPr>
              <a:t>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4B5E8"/>
                </a:solidFill>
              </a:rPr>
              <a:t>Q&amp;A 내장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7FD9"/>
                </a:solidFill>
              </a:rPr>
              <a:t>CORE FEATURES · 핵심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ResearchPath + Paper Translator 통합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737360"/>
            <a:ext cx="3566160" cy="2011680"/>
          </a:xfrm>
          <a:prstGeom prst="rect">
            <a:avLst/>
          </a:prstGeom>
          <a:solidFill>
            <a:srgbClr val="1A102E"/>
          </a:solidFill>
          <a:ln>
            <a:solidFill>
              <a:srgbClr val="7C5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470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C5CBF"/>
                </a:solidFill>
              </a:rP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745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5CBF"/>
                </a:solidFill>
              </a:rPr>
              <a:t>스마트 매칭 추천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3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키워드+진로 가중치 정렬
직접 태그 추가 · 진로 직접 입력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737360"/>
            <a:ext cx="3566160" cy="2011680"/>
          </a:xfrm>
          <a:prstGeom prst="rect">
            <a:avLst/>
          </a:prstGeom>
          <a:solidFill>
            <a:srgbClr val="1A102E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8470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BBFA5"/>
                </a:solidFill>
              </a:rPr>
              <a:t>🗂️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8745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BBFA5"/>
                </a:solidFill>
              </a:rPr>
              <a:t>5축 결정카드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37743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분야·논문·진로·계약대학원을
한 카드에 비교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737360"/>
            <a:ext cx="3566160" cy="2011680"/>
          </a:xfrm>
          <a:prstGeom prst="rect">
            <a:avLst/>
          </a:prstGeom>
          <a:solidFill>
            <a:srgbClr val="1A102E"/>
          </a:solidFill>
          <a:ln>
            <a:solidFill>
              <a:srgbClr val="5B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4708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A8D8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87451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A8D8"/>
                </a:solidFill>
              </a:rPr>
              <a:t>논문 바로 이동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377439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구글 스칼라 직링크
논문 쉬운 한 줄 요약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31920"/>
            <a:ext cx="3566160" cy="2011680"/>
          </a:xfrm>
          <a:prstGeom prst="rect">
            <a:avLst/>
          </a:prstGeom>
          <a:solidFill>
            <a:srgbClr val="1A102E"/>
          </a:solidFill>
          <a:ln>
            <a:solidFill>
              <a:srgbClr val="F4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416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4845F"/>
                </a:solidFill>
              </a:rPr>
              <a:t>✉️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069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845F"/>
                </a:solidFill>
              </a:rPr>
              <a:t>컨택 메일 자동화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맞춤 메일 초안
네이버/Gmail 원클릭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931920"/>
            <a:ext cx="3566160" cy="2011680"/>
          </a:xfrm>
          <a:prstGeom prst="rect">
            <a:avLst/>
          </a:prstGeom>
          <a:solidFill>
            <a:srgbClr val="1A102E"/>
          </a:solidFill>
          <a:ln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40416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B429"/>
                </a:solidFill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069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B429"/>
                </a:solidFill>
              </a:rPr>
              <a:t>AI 상담 패널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5720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데모 모드+API 연동
연구실별 Q&amp;A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3931920"/>
            <a:ext cx="3566160" cy="2011680"/>
          </a:xfrm>
          <a:prstGeom prst="rect">
            <a:avLst/>
          </a:prstGeom>
          <a:solidFill>
            <a:srgbClr val="1A102E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404164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BBFA5"/>
                </a:solidFill>
              </a:rPr>
              <a:t>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4069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BBFA5"/>
                </a:solidFill>
              </a:rPr>
              <a:t>논문 번역기 통합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5720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PDF→AI 번역·요약·키워드
참고문헌·Q&amp;A·다운로드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7FD9"/>
                </a:solidFill>
              </a:rPr>
              <a:t>PAPER TRANSLATOR · 논문 번역기 통합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app2.py 핵심 기능을 웹앱에 완전 이식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7772400" cy="777240"/>
          </a:xfrm>
          <a:prstGeom prst="rect">
            <a:avLst/>
          </a:prstGeom>
          <a:solidFill>
            <a:srgbClr val="1A102E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BBFA5"/>
                </a:solidFill>
              </a:rPr>
              <a:t>📁 PDF 업로드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288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드래그&amp;드롭 · 다중 파일 · 실시간 추출 (PDF.js)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39"/>
            <a:ext cx="7772400" cy="777240"/>
          </a:xfrm>
          <a:prstGeom prst="rect">
            <a:avLst/>
          </a:prstGeom>
          <a:solidFill>
            <a:srgbClr val="1A102E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BBFA5"/>
                </a:solidFill>
              </a:rPr>
              <a:t>🔄 AI 번역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6974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OpenAI GPT-4o/mini · 청크 단위 · 수식 보존 (__FXXXX__)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7772400" cy="777240"/>
          </a:xfrm>
          <a:prstGeom prst="rect">
            <a:avLst/>
          </a:prstGeom>
          <a:solidFill>
            <a:srgbClr val="1A102E"/>
          </a:solidFill>
          <a:ln>
            <a:solidFill>
              <a:srgbClr val="A07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7FD9"/>
                </a:solidFill>
              </a:rPr>
              <a:t>📋 요약/키워드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5661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구조화 요약 · 핵심 키워드 10-15개 · 참고문헌 정리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43400"/>
            <a:ext cx="7772400" cy="777240"/>
          </a:xfrm>
          <a:prstGeom prst="rect">
            <a:avLst/>
          </a:prstGeom>
          <a:solidFill>
            <a:srgbClr val="1A102E"/>
          </a:solidFill>
          <a:ln>
            <a:solidFill>
              <a:srgbClr val="5B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4348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A8D8"/>
                </a:solidFill>
              </a:rPr>
              <a:t>💬 논문 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4348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OpenAI 또는 Claude API로 논문 기반 질문 답변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12079"/>
            <a:ext cx="7772400" cy="777240"/>
          </a:xfrm>
          <a:prstGeom prst="rect">
            <a:avLst/>
          </a:prstGeom>
          <a:solidFill>
            <a:srgbClr val="1A102E"/>
          </a:solidFill>
          <a:ln>
            <a:solidFill>
              <a:srgbClr val="F4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3035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845F"/>
                </a:solidFill>
              </a:rPr>
              <a:t>⬇️ 다운로드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30352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TXT · HTML 형식 저장 (GitHub 전체 버전: PDF·Word·이메일)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737360"/>
            <a:ext cx="3474720" cy="4297680"/>
          </a:xfrm>
          <a:prstGeom prst="rect">
            <a:avLst/>
          </a:prstGeom>
          <a:solidFill>
            <a:srgbClr val="122412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BBFA5"/>
                </a:solidFill>
              </a:rPr>
              <a:t>📄 GitHub 전체 버전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3774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E8"/>
                </a:solidFill>
              </a:rPr>
              <a:t>• PDF/Word/TXT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8163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E8"/>
                </a:solidFill>
              </a:rPr>
              <a:t>• 이메일 자동 전송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2552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E8"/>
                </a:solidFill>
              </a:rPr>
              <a:t>• 용어집 (glossary.json)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69417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E8"/>
                </a:solidFill>
              </a:rPr>
              <a:t>• 번역 히스토리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13308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E8"/>
                </a:solidFill>
              </a:rPr>
              <a:t>• Scholar 연관 논문 검색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5720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E8"/>
                </a:solidFill>
              </a:rPr>
              <a:t>• 원문·번역 좌우 비교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0109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E8"/>
                </a:solidFill>
              </a:rPr>
              <a:t>• 스트리밍 실시간 출력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4498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5E8"/>
                </a:solidFill>
              </a:rPr>
              <a:t>• PDF 레이아웃 2단 비교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BFA5"/>
                </a:solidFill>
              </a:rPr>
              <a:t>github.com/lhwlhw0829-cmd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개발: Python · Streamlit · OpenAI API · PyMuPDF · ReportLab · python-docx · scholarly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7FD9"/>
                </a:solidFill>
              </a:rPr>
              <a:t>TECHNOLOGY · 기술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단일 HTML, 어디서나 동작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5486400" cy="1920240"/>
          </a:xfrm>
          <a:prstGeom prst="rect">
            <a:avLst/>
          </a:prstGeom>
          <a:solidFill>
            <a:srgbClr val="1A102E"/>
          </a:solidFill>
          <a:ln>
            <a:solidFill>
              <a:srgbClr val="A07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7FD9"/>
                </a:solidFill>
              </a:rPr>
              <a:t>🏗️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단일 HTML 파일
서버·DB·빌드 도구 없음
GitHub Pages 무료 배포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5486400" cy="1920240"/>
          </a:xfrm>
          <a:prstGeom prst="rect">
            <a:avLst/>
          </a:prstGeom>
          <a:solidFill>
            <a:srgbClr val="1A102E"/>
          </a:solidFill>
          <a:ln>
            <a:solidFill>
              <a:srgbClr val="A07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385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7FD9"/>
                </a:solidFill>
              </a:rPr>
              <a:t>🤖 AI 연동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231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Anthropic Messages API
OpenAI Chat Completions
claude-haiku / gpt-4o-mini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5486400" cy="1920240"/>
          </a:xfrm>
          <a:prstGeom prst="rect">
            <a:avLst/>
          </a:prstGeom>
          <a:solidFill>
            <a:srgbClr val="1A102E"/>
          </a:solidFill>
          <a:ln>
            <a:solidFill>
              <a:srgbClr val="A07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330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7FD9"/>
                </a:solidFill>
              </a:rPr>
              <a:t>📄 PDF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PDF.js (브라우저 내)
텍스트 추출·청크 분할
수식 보존 플레이스홀더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023360"/>
            <a:ext cx="5486400" cy="1920240"/>
          </a:xfrm>
          <a:prstGeom prst="rect">
            <a:avLst/>
          </a:prstGeom>
          <a:solidFill>
            <a:srgbClr val="1A102E"/>
          </a:solidFill>
          <a:ln>
            <a:solidFill>
              <a:srgbClr val="A07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330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7FD9"/>
                </a:solidFill>
              </a:rPr>
              <a:t>💾 데이터 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177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localStorage
연구실 데이터·API 키
새로고침 후에도 유지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Python 버전 (GitHub): streamlit · openai · anthropic · pymupdf · reportlab · python-docx · scholarly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7FD9"/>
                </a:solidFill>
              </a:rPr>
              <a:t>VALIDATION · 검증 가설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오늘 검증할 가설 3가지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47120" cy="1143000"/>
          </a:xfrm>
          <a:prstGeom prst="rect">
            <a:avLst/>
          </a:prstGeom>
          <a:solidFill>
            <a:srgbClr val="1A102E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BBFA5"/>
                </a:solidFill>
              </a:rPr>
              <a:t>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BBFA5"/>
                </a:solidFill>
              </a:rPr>
              <a:t>정보 수집이 힘들다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학생들은 연구실 탐색 시 여러 사이트를 따로 뒤지는 것을 번거로워한다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11247120" cy="1143000"/>
          </a:xfrm>
          <a:prstGeom prst="rect">
            <a:avLst/>
          </a:prstGeom>
          <a:solidFill>
            <a:srgbClr val="1A102E"/>
          </a:solidFill>
          <a:ln>
            <a:solidFill>
              <a:srgbClr val="A07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07FD9"/>
                </a:solidFill>
              </a:rPr>
              <a:t>H2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200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7FD9"/>
                </a:solidFill>
              </a:rPr>
              <a:t>논문 요약을 원한다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611879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영어 원문보다 쉬운 한 줄 요약과 AI 번역 도구를 선호한다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1247120" cy="1143000"/>
          </a:xfrm>
          <a:prstGeom prst="rect">
            <a:avLst/>
          </a:prstGeom>
          <a:solidFill>
            <a:srgbClr val="1A102E"/>
          </a:solidFill>
          <a:ln>
            <a:solidFill>
              <a:srgbClr val="F4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8056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845F"/>
                </a:solidFill>
              </a:rPr>
              <a:t>H3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480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845F"/>
                </a:solidFill>
              </a:rPr>
              <a:t>진로 연결이 핵심 니즈다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9204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졸업 후 어떤 직무로 연결되는지가 연구실 선택의 주요 기준이다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solidFill>
            <a:srgbClr val="1A2E1A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BFA5"/>
                </a:solidFill>
              </a:rPr>
              <a:t>검증 방법: 동기 인터뷰 · 구글폼 · 카카오톡 피드백 · Wizard of Oz 데모  |  과장된 시장규모 수치 없음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7FD9"/>
                </a:solidFill>
              </a:rPr>
              <a:t>DEMO · 시연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2분 데모 시나리오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1247120" cy="658368"/>
          </a:xfrm>
          <a:prstGeom prst="rect">
            <a:avLst/>
          </a:prstGeom>
          <a:solidFill>
            <a:srgbClr val="1A102E"/>
          </a:solidFill>
          <a:ln>
            <a:solidFill>
              <a:srgbClr val="7C5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5CB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5CBF"/>
                </a:solidFill>
              </a:rPr>
              <a:t>분야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"컴퓨터비전 + 의료영상" 선택 · 계약대학원 우선 → 추천받기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87168"/>
            <a:ext cx="11247120" cy="658368"/>
          </a:xfrm>
          <a:prstGeom prst="rect">
            <a:avLst/>
          </a:prstGeom>
          <a:solidFill>
            <a:srgbClr val="1A102E"/>
          </a:solidFill>
          <a:ln>
            <a:solidFill>
              <a:srgbClr val="7C5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786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5CB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5CBF"/>
                </a:solidFill>
              </a:rPr>
              <a:t>결정카드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57860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VIS Lab 카드 — 매칭바 · 구글 스칼라 링크 클릭 · 계약대학원 축 강조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36976"/>
            <a:ext cx="11247120" cy="658368"/>
          </a:xfrm>
          <a:prstGeom prst="rect">
            <a:avLst/>
          </a:prstGeom>
          <a:solidFill>
            <a:srgbClr val="1A102E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284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BBFA5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BBFA5"/>
                </a:solidFill>
              </a:rPr>
              <a:t>AI 상담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328416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"어떤 진로로 연결되나요?" → AI 답변 확인 (데모/API 모드)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86783"/>
            <a:ext cx="11247120" cy="658368"/>
          </a:xfrm>
          <a:prstGeom prst="rect">
            <a:avLst/>
          </a:prstGeom>
          <a:solidFill>
            <a:srgbClr val="1A102E"/>
          </a:solidFill>
          <a:ln>
            <a:solidFill>
              <a:srgbClr val="4B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78223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BBFA5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78223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BBFA5"/>
                </a:solidFill>
              </a:rPr>
              <a:t>컨택 메일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078223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메일 초안 → 네이버 메일 또는 Gmail 원클릭 이동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36592"/>
            <a:ext cx="11247120" cy="658368"/>
          </a:xfrm>
          <a:prstGeom prst="rect">
            <a:avLst/>
          </a:prstGeom>
          <a:solidFill>
            <a:srgbClr val="1A102E"/>
          </a:solidFill>
          <a:ln>
            <a:solidFill>
              <a:srgbClr val="F4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82803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845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28031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845F"/>
                </a:solidFill>
              </a:rPr>
              <a:t>논문 번역기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828031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번역기 탭 → PDF 업로드 → 번역 시작 → TXT 다운로드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47120" cy="658368"/>
          </a:xfrm>
          <a:prstGeom prst="rect">
            <a:avLst/>
          </a:prstGeom>
          <a:solidFill>
            <a:srgbClr val="1A102E"/>
          </a:solidFill>
          <a:ln>
            <a:solidFill>
              <a:srgbClr val="5B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57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BA8D8"/>
                </a:solidFill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A8D8"/>
                </a:solidFill>
              </a:rPr>
              <a:t>관리자 패널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577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E8"/>
                </a:solidFill>
              </a:rPr>
              <a:t>새 연구실 추가 시연 (비밀번호: admin1234)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4B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7FD9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정보 비대칭을 없애</a:t>
            </a:r>
          </a:p>
          <a:p>
            <a:pPr algn="l"/>
            <a:r>
              <a:rPr sz="4200" b="1">
                <a:solidFill>
                  <a:srgbClr val="4BBFA5"/>
                </a:solidFill>
              </a:rPr>
              <a:t>기회를 평등하게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4B5E8"/>
                </a:solidFill>
              </a:rPr>
              <a:t>인맥 있는 학생만 좋은 연구실을 아는 구조, ResearchPath가 바꿉니다.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18096"/>
                </a:solidFill>
              </a:rPr>
              <a:t>💌 문의 ·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nina829@naver.com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159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18096"/>
                </a:solidFill>
              </a:rPr>
              <a:t>📄 논문 번역 도구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159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github.com/lhwlhw0829-cmd/Paper-Translator-Version-1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7433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18096"/>
                </a:solidFill>
              </a:rPr>
              <a:t>🌐 배포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97433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GitHub Pages · 단일 HTML · 서버리스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18096"/>
                </a:solidFill>
              </a:rPr>
              <a:t>👩‍💻 개발자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63270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B5E8"/>
                </a:solidFill>
              </a:rPr>
              <a:t>Hyewon Lee (이혜원) · 용인대 AI·빅데이터학과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943600"/>
            <a:ext cx="10789920" cy="54864"/>
          </a:xfrm>
          <a:prstGeom prst="rect">
            <a:avLst/>
          </a:prstGeom>
          <a:solidFill>
            <a:srgbClr val="A07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035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8096"/>
                </a:solidFill>
              </a:rPr>
              <a:t>노코드 MVP · 단일 HTML · GitHub Pages 배포 · 외부 서버·DB 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